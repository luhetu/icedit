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这一页介绍已有工作。ObjectClear 基于 SDXL-Inpainting，输入原图和目标 mask。它通过目标及影响的监督学习定位，再结合空间变化去噪和注意力融合保持背景。这些机制属于论文作者，不能作为我们的创新。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流程图是我们依据论文重画的概念图。注意区分：推理输入是原图和目标 mask；物体加影响的标注用于训练监督。不能把它讲成推理时已经知道正确的影响范围。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我们已完成下载、环境修复和导入验证，生成任务仍排队。首先确认强基线能否解决现有失败，再判断简单保护 mask 是否足够。候选方向是实例间误伤控制，但还没有证明新颖性或效果。AGF 开关还影响早期潜变量回填，因此不能直接把开关实验说成纯后处理消融；同一次运行的融合前后图才用于检查最终融合收益。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16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Remove the Target. Preserve the Others.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Research focus: selective object removal when target and protected content interact.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5394960" cy="32918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The practical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27832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Remove the specified instance and its effects.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Preserve nearby faces, text, structure and other instances.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A plausible image can still be an incorrect edit.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423160"/>
            <a:ext cx="5394960" cy="3291840"/>
          </a:xfrm>
          <a:prstGeom prst="rect">
            <a:avLst/>
          </a:prstGeom>
          <a:solidFill>
            <a:srgbClr val="F1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Our current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27832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Editing infrastructure is implemented.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Strong-baseline validation is in progress.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A new method contribution remains to be demonstrated.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16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Implemented pipeline; active denoising intervention remains a proposal.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2057400" cy="12344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79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Instruction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64991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</a:p>
        </p:txBody>
      </p:sp>
      <p:sp>
        <p:nvSpPr>
          <p:cNvPr id="10" name="Chevron 9"/>
          <p:cNvSpPr/>
          <p:nvPr/>
        </p:nvSpPr>
        <p:spPr>
          <a:xfrm>
            <a:off x="2642616" y="2971800"/>
            <a:ext cx="201168" cy="274320"/>
          </a:xfrm>
          <a:prstGeom prst="chevron">
            <a:avLst/>
          </a:prstGeom>
          <a:solidFill>
            <a:srgbClr val="167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98648" y="2560320"/>
            <a:ext cx="2057400" cy="12344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697479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Edit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3364991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</a:p>
        </p:txBody>
      </p:sp>
      <p:sp>
        <p:nvSpPr>
          <p:cNvPr id="14" name="Chevron 13"/>
          <p:cNvSpPr/>
          <p:nvPr/>
        </p:nvSpPr>
        <p:spPr>
          <a:xfrm>
            <a:off x="4992624" y="2971800"/>
            <a:ext cx="201168" cy="274320"/>
          </a:xfrm>
          <a:prstGeom prst="chevron">
            <a:avLst/>
          </a:prstGeom>
          <a:solidFill>
            <a:srgbClr val="167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48655" y="2560320"/>
            <a:ext cx="2057400" cy="12344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6" y="2697479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Spatial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536" y="3364991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</a:p>
        </p:txBody>
      </p:sp>
      <p:sp>
        <p:nvSpPr>
          <p:cNvPr id="18" name="Chevron 17"/>
          <p:cNvSpPr/>
          <p:nvPr/>
        </p:nvSpPr>
        <p:spPr>
          <a:xfrm>
            <a:off x="7342631" y="2971800"/>
            <a:ext cx="201168" cy="274320"/>
          </a:xfrm>
          <a:prstGeom prst="chevron">
            <a:avLst/>
          </a:prstGeom>
          <a:solidFill>
            <a:srgbClr val="167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98663" y="2560320"/>
            <a:ext cx="2057400" cy="12344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81543" y="2697479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ICEdit / 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543" y="3364991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</a:p>
        </p:txBody>
      </p:sp>
      <p:sp>
        <p:nvSpPr>
          <p:cNvPr id="22" name="Chevron 21"/>
          <p:cNvSpPr/>
          <p:nvPr/>
        </p:nvSpPr>
        <p:spPr>
          <a:xfrm>
            <a:off x="9692639" y="2971800"/>
            <a:ext cx="201168" cy="274320"/>
          </a:xfrm>
          <a:prstGeom prst="chevron">
            <a:avLst/>
          </a:prstGeom>
          <a:solidFill>
            <a:srgbClr val="167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48672" y="2560320"/>
            <a:ext cx="2057400" cy="12344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1551" y="2697479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Raw + composite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1551" y="3364991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85800" y="42062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20282C"/>
                </a:solidFill>
                <a:latin typeface="Calibri"/>
              </a:defRPr>
            </a:pPr>
            <a:r>
              <a:t>Contract: target, operation and preservation requirements.</a:t>
            </a:r>
          </a:p>
          <a:p>
            <a:pPr>
              <a:spcAft>
                <a:spcPts val="1400"/>
              </a:spcAft>
              <a:defRPr sz="2300" b="0">
                <a:solidFill>
                  <a:srgbClr val="20282C"/>
                </a:solidFill>
                <a:latin typeface="Calibri"/>
              </a:defRPr>
            </a:pPr>
            <a:r>
              <a:t>Controls: source-only masks and protected-region subtraction.</a:t>
            </a:r>
          </a:p>
          <a:p>
            <a:pPr>
              <a:spcAft>
                <a:spcPts val="1400"/>
              </a:spcAft>
              <a:defRPr sz="2300" b="0">
                <a:solidFill>
                  <a:srgbClr val="20282C"/>
                </a:solidFill>
                <a:latin typeface="Calibri"/>
              </a:defRPr>
            </a:pPr>
            <a:r>
              <a:t>Final compositing preserves pixels outside the mask; it does not prove better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16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Progress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Verified September 16: one scene, five conditions, three seeds; not a broad benchmark.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5394960" cy="356616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Completed ICEdit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82112"/>
            <a:ext cx="50292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15/15 generations completed; 30 infrastructure tests passed.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Outside-mask raw L1: full 0.05176; masked 0.02246.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About 57% less pixel change, but signs still remain or regenerate.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77440"/>
            <a:ext cx="5394960" cy="3566160"/>
          </a:xfrm>
          <a:prstGeom prst="rect">
            <a:avLst/>
          </a:prstGeom>
          <a:solidFill>
            <a:srgbClr val="F1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Interpretation and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82112"/>
            <a:ext cx="50292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Pixel preservation does not imply successful removal or preserved identity.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Native Fill removes rooftop signs but alters people.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ObjectClear imports successfully; GPU runs are still pending.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16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Where a Contribution Must Go Further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A contract, verifier or final composite alone is not the proposed contribution.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0282C"/>
                </a:solidFill>
                <a:latin typeface="Calibri"/>
              </a:defRPr>
            </a:pPr>
            <a:r>
              <a:t>ObjectClear: target/effect localization and background fusion.</a:t>
            </a:r>
          </a:p>
          <a:p>
            <a:pPr>
              <a:spcAft>
                <a:spcPts val="1400"/>
              </a:spcAft>
              <a:defRPr sz="2500" b="0">
                <a:solidFill>
                  <a:srgbClr val="20282C"/>
                </a:solidFill>
                <a:latin typeface="Calibri"/>
              </a:defRPr>
            </a:pPr>
            <a:r>
              <a:t>Consistency Critic: reference-guided consistency correction.</a:t>
            </a:r>
          </a:p>
          <a:p>
            <a:pPr>
              <a:spcAft>
                <a:spcPts val="1400"/>
              </a:spcAft>
              <a:defRPr sz="2500" b="0">
                <a:solidFill>
                  <a:srgbClr val="20282C"/>
                </a:solidFill>
                <a:latin typeface="Calibri"/>
              </a:defRPr>
            </a:pPr>
            <a:r>
              <a:t>AdaEraser: adaptive attention suppression for removal.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720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16776B"/>
                </a:solidFill>
                <a:latin typeface="Calibri"/>
              </a:defRPr>
            </a:pPr>
            <a:r>
              <a:t>Hypothesis: explicit instance ownership can reduce collateral damage when effects or boundaries overlap.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647176"/>
                </a:solidFill>
                <a:latin typeface="Calibri"/>
              </a:defRPr>
            </a:pPr>
            <a:r>
              <a:t>Sources: arxiv.org/abs/2505.22636v2 | arxiv.org/abs/2511.20614 | arxiv.org/abs/2605.15921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16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ObjectClear: What the Paper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Precise Object and Effect Removal with Adaptive Target-Aware Attention | CVPR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5394960" cy="320040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Backbone and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82112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SDXL-Inpainting with a CLIP visual object encoder.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Input: source image and target-object mask.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OBER supplies paired scenes and object-effect supervision.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77440"/>
            <a:ext cx="5394960" cy="3200400"/>
          </a:xfrm>
          <a:prstGeom prst="rect">
            <a:avLst/>
          </a:prstGeom>
          <a:solidFill>
            <a:srgbClr val="F1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Three mechanisms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82112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ATA: learn where the target and its effects are.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SVDS: vary denoising strength across regions.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AGF: use attention to fuse generated content with source details.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647176"/>
                </a:solidFill>
                <a:latin typeface="Calibri"/>
              </a:defRPr>
            </a:pPr>
            <a:r>
              <a:t>Zhao et al., arxiv.org/html/2505.22636v2 | Paper mechanisms, not our contributions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16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ObjectClear: Simplified Method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Conceptual redraw based on the paper; training supervision is distinct from inference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3383280" cy="164592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Source + mask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1927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Select the target</a:t>
            </a:r>
          </a:p>
        </p:txBody>
      </p:sp>
      <p:sp>
        <p:nvSpPr>
          <p:cNvPr id="10" name="Chevron 9"/>
          <p:cNvSpPr/>
          <p:nvPr/>
        </p:nvSpPr>
        <p:spPr>
          <a:xfrm>
            <a:off x="4133087" y="3063240"/>
            <a:ext cx="274320" cy="320040"/>
          </a:xfrm>
          <a:prstGeom prst="chevron">
            <a:avLst/>
          </a:prstGeom>
          <a:solidFill>
            <a:srgbClr val="167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2514600"/>
            <a:ext cx="3383280" cy="164592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651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SDXL + 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1927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Remove object/effects</a:t>
            </a:r>
          </a:p>
        </p:txBody>
      </p:sp>
      <p:sp>
        <p:nvSpPr>
          <p:cNvPr id="14" name="Chevron 13"/>
          <p:cNvSpPr/>
          <p:nvPr/>
        </p:nvSpPr>
        <p:spPr>
          <a:xfrm>
            <a:off x="8019288" y="3063240"/>
            <a:ext cx="274320" cy="320040"/>
          </a:xfrm>
          <a:prstGeom prst="chevron">
            <a:avLst/>
          </a:prstGeom>
          <a:solidFill>
            <a:srgbClr val="167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514600"/>
            <a:ext cx="3383280" cy="164592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2651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AGF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331927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Fuse source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20282C"/>
                </a:solidFill>
                <a:latin typeface="Calibri"/>
              </a:defRPr>
            </a:pPr>
            <a:r>
              <a:t>SVDS acts during denoising; AGF uses the predicted attention map.</a:t>
            </a:r>
          </a:p>
          <a:p>
            <a:pPr>
              <a:spcAft>
                <a:spcPts val="1400"/>
              </a:spcAft>
              <a:defRPr sz="2300" b="0">
                <a:solidFill>
                  <a:srgbClr val="20282C"/>
                </a:solidFill>
                <a:latin typeface="Calibri"/>
              </a:defRPr>
            </a:pPr>
            <a:r>
              <a:t>OBER object-effect masks supervise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647176"/>
                </a:solidFill>
                <a:latin typeface="Calibri"/>
              </a:defRPr>
            </a:pPr>
            <a:r>
              <a:t>Source: arxiv.org/html/2505.22636v2, Sec. 3.2 | Simplified, not an exact computation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16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ObjectClear: Our Reproduction and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Status checked September 16: submitted runs are pending; no reproduced quality claim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5394960" cy="35204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Our reproduction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82112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Official code and FP16 weights prepared; pipeline import passes.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1044511: official sample, AGF on/off.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1044514: same ICEdit source/mask, 3 seeds x 2 modes; depends on smoke success.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Save attention and pre/post-fusion outputs.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77440"/>
            <a:ext cx="5394960" cy="3520440"/>
          </a:xfrm>
          <a:prstGeom prst="rect">
            <a:avLst/>
          </a:prstGeom>
          <a:solidFill>
            <a:srgbClr val="F1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What we still need to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82112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Does a strong remover already solve our failures?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Do simple protected masks suffice?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Candidate gap: protecting other instances when deletion regions interact.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An explicit protection controller remains a hypothesis.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0760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647176"/>
                </a:solidFill>
                <a:latin typeface="Calibri"/>
              </a:defRPr>
            </a:pPr>
            <a:r>
              <a:t>Code caveat: AGF toggle changes early latent blending AND final fusion. Use within-run pre/post pairs to isolate final fusion.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16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Candidate Mechanism: Test Before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Proposed diagnostic, not a validated method or physical causal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20282C"/>
                </a:solidFill>
                <a:latin typeface="Calibri"/>
              </a:defRPr>
            </a:pPr>
            <a:r>
              <a:t>1. Identify target, protected instances and uncertain regions.</a:t>
            </a:r>
          </a:p>
          <a:p>
            <a:pPr>
              <a:spcAft>
                <a:spcPts val="1400"/>
              </a:spcAft>
              <a:defRPr sz="2400" b="0">
                <a:solidFill>
                  <a:srgbClr val="20282C"/>
                </a:solidFill>
                <a:latin typeface="Calibri"/>
              </a:defRPr>
            </a:pPr>
            <a:r>
              <a:t>2. At the same denoising state, vary target and protected reference evidence separately.</a:t>
            </a:r>
          </a:p>
          <a:p>
            <a:pPr>
              <a:spcAft>
                <a:spcPts val="1400"/>
              </a:spcAft>
              <a:defRPr sz="2400" b="0">
                <a:solidFill>
                  <a:srgbClr val="20282C"/>
                </a:solidFill>
                <a:latin typeface="Calibri"/>
              </a:defRPr>
            </a:pPr>
            <a:r>
              <a:t>3. Test whether prediction responses distinguish target persistence from protected-content damage.</a:t>
            </a:r>
          </a:p>
          <a:p>
            <a:pPr>
              <a:spcAft>
                <a:spcPts val="1400"/>
              </a:spcAft>
              <a:defRPr sz="2400" b="0">
                <a:solidFill>
                  <a:srgbClr val="20282C"/>
                </a:solidFill>
                <a:latin typeface="Calibri"/>
              </a:defRPr>
            </a:pPr>
            <a:r>
              <a:t>4. Build a regional controller only if this signal beats simple spatial heuristics.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669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6776B"/>
                </a:solidFill>
                <a:latin typeface="Calibri"/>
              </a:defRPr>
            </a:pPr>
            <a:r>
              <a:t>Compare equal information and compute budgets. Report raw outputs before compositing.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16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Next Experiments and Decision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Use existing cases first; no new benchmark is required for this diagnostic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5394960" cy="347472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Experimental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27832"/>
            <a:ext cx="502920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Completed: ICEdit, 5 conditions x 3 seeds.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Next: validate ObjectClear and fusion effects.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Compare simple protection controls on held-out cases.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Then test the smallest intervention module.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423160"/>
            <a:ext cx="5394960" cy="3474720"/>
          </a:xfrm>
          <a:prstGeom prst="rect">
            <a:avLst/>
          </a:prstGeom>
          <a:solidFill>
            <a:srgbClr val="F1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Continue only if...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27832"/>
            <a:ext cx="502920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The failure persists on strong baselines.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Removal improves at comparable protection damage, or vice versa.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Gains survive raw-output and held-out evaluation.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Simple masks and equal-cost resampling cannot explain the 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